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github.com/ChinmayaDas2007/dma_spi_controller" TargetMode="External" Type="http://schemas.openxmlformats.org/officeDocument/2006/relationships/hyperlink"/><Relationship Id="rId5" Target="https://vitacin-my.sharepoint.com/:b:/g/personal/chinmaya_das2025_vitstudent_ac_in/IQCBXOUXBbYoRKgLzzPtbQD4ARaVvWDBTWyxHPq05tWmSSk?e=VniQUH" TargetMode="External" Type="http://schemas.openxmlformats.org/officeDocument/2006/relationships/hyperlink"/><Relationship Id="rId6" Target="https://vitacin-my.sharepoint.com/:b:/g/personal/chinmaya_das2025_vitstudent_ac_in/IQD_FnwcXUT3RpbwgSpO1Q6sAcmAfTx61XP8y9m5yZmM74o?e=IGYIsp" TargetMode="External" Type="http://schemas.openxmlformats.org/officeDocument/2006/relationships/hyperlink"/><Relationship Id="rId7" Target="../media/image5.pn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https://docs.google.com/spreadsheets/d/1fYQU6NIitf-da5jGY2DLMpgwy7yGOHrC-LEVyRjjTow/edit?usp=sharing" TargetMode="External" Type="http://schemas.openxmlformats.org/officeDocument/2006/relationships/hyperlink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51046" y="3181217"/>
            <a:ext cx="4097341" cy="4382214"/>
            <a:chOff x="0" y="0"/>
            <a:chExt cx="5463121" cy="58429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3159" cy="5842889"/>
            </a:xfrm>
            <a:custGeom>
              <a:avLst/>
              <a:gdLst/>
              <a:ahLst/>
              <a:cxnLst/>
              <a:rect r="r" b="b" t="t" l="l"/>
              <a:pathLst>
                <a:path h="5842889" w="5463159">
                  <a:moveTo>
                    <a:pt x="0" y="0"/>
                  </a:moveTo>
                  <a:lnTo>
                    <a:pt x="5463159" y="0"/>
                  </a:lnTo>
                  <a:lnTo>
                    <a:pt x="5463159" y="5842889"/>
                  </a:lnTo>
                  <a:lnTo>
                    <a:pt x="0" y="5842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4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444440" y="1681982"/>
            <a:ext cx="11399120" cy="169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74023" y="679161"/>
            <a:ext cx="16419471" cy="2074650"/>
            <a:chOff x="0" y="0"/>
            <a:chExt cx="21892628" cy="276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92628" cy="2766194"/>
            </a:xfrm>
            <a:custGeom>
              <a:avLst/>
              <a:gdLst/>
              <a:ahLst/>
              <a:cxnLst/>
              <a:rect r="r" b="b" t="t" l="l"/>
              <a:pathLst>
                <a:path h="2766194" w="21892628">
                  <a:moveTo>
                    <a:pt x="0" y="0"/>
                  </a:moveTo>
                  <a:lnTo>
                    <a:pt x="21892628" y="0"/>
                  </a:lnTo>
                  <a:lnTo>
                    <a:pt x="21892628" y="2766194"/>
                  </a:lnTo>
                  <a:lnTo>
                    <a:pt x="0" y="2766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4211" r="0" b="-104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892628" cy="2766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VITISH 2026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(SIH Internal Hackathon)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131820"/>
            <a:ext cx="8703945" cy="577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 PS17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Space Debris &amp; Collision Avoidance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Space Technology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Hardware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11" id="11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368" r="0" b="-636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1" r="0" b="-7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1" r="0" b="-10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8420"/>
            <a:ext cx="16459200" cy="2233404"/>
            <a:chOff x="0" y="0"/>
            <a:chExt cx="21945600" cy="2977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977875"/>
            </a:xfrm>
            <a:custGeom>
              <a:avLst/>
              <a:gdLst/>
              <a:ahLst/>
              <a:cxnLst/>
              <a:rect r="r" b="b" t="t" l="l"/>
              <a:pathLst>
                <a:path h="29778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77875"/>
                  </a:lnTo>
                  <a:lnTo>
                    <a:pt x="0" y="29778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384" r="0" b="-708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3015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2316" y="2721252"/>
            <a:ext cx="17787023" cy="605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190" indent="-418095" lvl="1">
              <a:lnSpc>
                <a:spcPts val="5544"/>
              </a:lnSpc>
              <a:buFont typeface="Arial"/>
              <a:buChar char="•"/>
            </a:pPr>
            <a:r>
              <a:rPr lang="en-US" b="true" sz="462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Edge-Vision Collision Avoidance &amp; AI-Driven Error Ellipsoid Reduction​</a:t>
            </a:r>
          </a:p>
          <a:p>
            <a:pPr algn="l">
              <a:lnSpc>
                <a:spcPts val="5544"/>
              </a:lnSpc>
            </a:pPr>
          </a:p>
          <a:p>
            <a:pPr algn="just" marL="521864" indent="-260932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 AI: Predicts drag via</a:t>
            </a: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NOAA solar flux to shrink CDM error.  </a:t>
            </a:r>
          </a:p>
          <a:p>
            <a:pPr algn="just" marL="521864" indent="-260932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Hardware: FPGA taps Star Trackers for real-time visual confirmation via frame-differencing. </a:t>
            </a:r>
          </a:p>
          <a:p>
            <a:pPr algn="just">
              <a:lnSpc>
                <a:spcPts val="3460"/>
              </a:lnSpc>
            </a:pPr>
          </a:p>
          <a:p>
            <a:pPr algn="just" marL="521854" indent="-260927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Eliminates false positives f</a:t>
            </a: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 radar "error ellipsoids".  </a:t>
            </a:r>
          </a:p>
          <a:p>
            <a:pPr algn="just" marL="521854" indent="-260927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Preserves critical Δv propellant, extending satellite lifespan.</a:t>
            </a:r>
          </a:p>
          <a:p>
            <a:pPr algn="just">
              <a:lnSpc>
                <a:spcPts val="3460"/>
              </a:lnSpc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521854" indent="-260927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 Added Mass: Repurposes existing optics.  </a:t>
            </a:r>
          </a:p>
          <a:p>
            <a:pPr algn="just" marL="521854" indent="-260927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</a:t>
            </a: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Isolation: Prevents vision logic from hijacking ADCS.  </a:t>
            </a:r>
          </a:p>
          <a:p>
            <a:pPr algn="just" marL="521854" indent="-260927" lvl="1">
              <a:lnSpc>
                <a:spcPts val="3460"/>
              </a:lnSpc>
              <a:buFont typeface="Arial"/>
              <a:buChar char="•"/>
            </a:pPr>
            <a:r>
              <a:rPr lang="en-US" sz="28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Active-Active Protocol: Matrix negotiates right-of-way to prevent double-burns.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12" id="12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68" r="0" b="-636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" r="0" b="-7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" r="0" b="-10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5696" y="1378791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627632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e: FPGA (Altera DE-10), Star Tracker Optics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Software: Python (XGBoost, Skyfield), Verilog, C/C++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&amp; UI: NOAA API, Space-Track.org, CesiumJS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7" id="7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68" r="0" b="-6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" r="0" b="-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" r="0" b="-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0" y="6809249"/>
            <a:ext cx="18288000" cy="2176195"/>
          </a:xfrm>
          <a:custGeom>
            <a:avLst/>
            <a:gdLst/>
            <a:ahLst/>
            <a:cxnLst/>
            <a:rect r="r" b="b" t="t" l="l"/>
            <a:pathLst>
              <a:path h="2176195" w="18288000">
                <a:moveTo>
                  <a:pt x="0" y="0"/>
                </a:moveTo>
                <a:lnTo>
                  <a:pt x="18288000" y="0"/>
                </a:lnTo>
                <a:lnTo>
                  <a:pt x="18288000" y="2176194"/>
                </a:lnTo>
                <a:lnTo>
                  <a:pt x="0" y="2176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" t="0" r="-58" b="-1095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5480" y="1367771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SOLUTION FEASIBILITY &amp; VIABILITY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9494" y="2844156"/>
            <a:ext cx="17389012" cy="83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6"/>
              </a:lnSpc>
            </a:pP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feasible to rapidly prototype using a Hardware-in-the-Loop (HITL) testbench.</a:t>
            </a: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Utilizes proven Commercial Off-The-Shelf (COTS) Star Trackers and standard FPGA (Altera DE-10) architecture.</a:t>
            </a:r>
          </a:p>
          <a:p>
            <a:pPr algn="l">
              <a:lnSpc>
                <a:spcPts val="3356"/>
              </a:lnSpc>
            </a:pPr>
          </a:p>
          <a:p>
            <a:pPr algn="l">
              <a:lnSpc>
                <a:spcPts val="3356"/>
              </a:lnSpc>
            </a:pP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Optical Blindness: Debris cannot be tracked while in the Earth's shadow (eclipse).</a:t>
            </a: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Streak Smearing: Head-on relative velocities (&gt;15 km/s) spread point sources into unreadable faint streaks.</a:t>
            </a:r>
          </a:p>
          <a:p>
            <a:pPr algn="l">
              <a:lnSpc>
                <a:spcPts val="3356"/>
              </a:lnSpc>
            </a:pPr>
          </a:p>
          <a:p>
            <a:pPr algn="l">
              <a:lnSpc>
                <a:spcPts val="3356"/>
              </a:lnSpc>
            </a:pP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Blindness Mitigation: Orbit propagator detects eclipse conditions and automatically defaults to conservative ground-radar estimates.</a:t>
            </a:r>
          </a:p>
          <a:p>
            <a:pPr algn="l" marL="603872" indent="-301936" lvl="1">
              <a:lnSpc>
                <a:spcPts val="3356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Smearing Mitigation: FPGA runs parallelized Hough transforms tuned specifically for multi-frame transient line detection.</a:t>
            </a:r>
          </a:p>
          <a:p>
            <a:pPr algn="l">
              <a:lnSpc>
                <a:spcPts val="2876"/>
              </a:lnSpc>
            </a:pPr>
          </a:p>
          <a:p>
            <a:pPr algn="l">
              <a:lnSpc>
                <a:spcPts val="2755"/>
              </a:lnSpc>
            </a:pPr>
          </a:p>
          <a:p>
            <a:pPr algn="l">
              <a:lnSpc>
                <a:spcPts val="2755"/>
              </a:lnSpc>
            </a:pPr>
          </a:p>
          <a:p>
            <a:pPr algn="l">
              <a:lnSpc>
                <a:spcPts val="2755"/>
              </a:lnSpc>
            </a:pPr>
          </a:p>
          <a:p>
            <a:pPr algn="just">
              <a:lnSpc>
                <a:spcPts val="2755"/>
              </a:lnSpc>
            </a:pPr>
          </a:p>
          <a:p>
            <a:pPr algn="just">
              <a:lnSpc>
                <a:spcPts val="275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7" id="7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68" r="0" b="-6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" r="0" b="-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" r="0" b="-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678162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 WORLD IMPACTS, BENEFITS &amp; RELEVANCE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2158" y="3880056"/>
            <a:ext cx="15802185" cy="541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</a:p>
          <a:p>
            <a:pPr algn="just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Replaces guesswork with deterministic, onboard tracking data for commercial constellation operators and defense agencies.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just" marL="542930" indent="-271465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Saves critical 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Delta V (ΔV)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propellant, directly delaying End-of-Life (EOL) decommissioning and extending the satellite's revenue-generating lifespan.</a:t>
            </a:r>
          </a:p>
          <a:p>
            <a:pPr algn="just" marL="542930" indent="-271465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Minimizes service downtime during conjunctions via the active-active maneuver negotiation protocol.</a:t>
            </a:r>
          </a:p>
          <a:p>
            <a:pPr algn="just" marL="542930" indent="-271465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Environmental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Actively prevents the runaway spread of Kessler Syndrome by tracking and avoiding otherwise untrackable micro-debris.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7" id="7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368" r="0" b="-6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" r="0" b="-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" r="0" b="-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678162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CAPABILITY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4036" y="3630787"/>
            <a:ext cx="17131963" cy="735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5583" indent="-397792" lvl="1">
              <a:lnSpc>
                <a:spcPts val="5275"/>
              </a:lnSpc>
              <a:buFont typeface="Arial"/>
              <a:buChar char="•"/>
            </a:pP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Team’s experience in the domain :-</a:t>
            </a:r>
          </a:p>
          <a:p>
            <a:pPr algn="just">
              <a:lnSpc>
                <a:spcPts val="5275"/>
              </a:lnSpc>
            </a:pP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Previously worked with </a:t>
            </a:r>
            <a:r>
              <a:rPr lang="en-US" sz="4396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github.com/ChinmayaDas2007/dma_spi_controller"/>
              </a:rPr>
              <a:t>FPGA</a:t>
            </a: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4396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 tooltip="https://vitacin-my.sharepoint.com/:b:/g/personal/chinmaya_das2025_vitstudent_ac_in/IQCBXOUXBbYoRKgLzzPtbQD4ARaVvWDBTWyxHPq05tWmSSk?e=VniQUH"/>
              </a:rPr>
              <a:t>HDL</a:t>
            </a: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4396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vitacin-my.sharepoint.com/:b:/g/personal/chinmaya_das2025_vitstudent_ac_in/IQD_FnwcXUT3RpbwgSpO1Q6sAcmAfTx61XP8y9m5yZmM74o?e=IGYIsp"/>
              </a:rPr>
              <a:t>Flight control softwares,Orbital mechanics,PCBs and basic circuiting.</a:t>
            </a:r>
          </a:p>
          <a:p>
            <a:pPr algn="just">
              <a:lnSpc>
                <a:spcPts val="5275"/>
              </a:lnSpc>
            </a:pPr>
          </a:p>
          <a:p>
            <a:pPr algn="just" marL="795583" indent="-397792" lvl="1">
              <a:lnSpc>
                <a:spcPts val="5275"/>
              </a:lnSpc>
              <a:buFont typeface="Arial"/>
              <a:buChar char="•"/>
            </a:pP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choosing the domain :-</a:t>
            </a:r>
          </a:p>
          <a:p>
            <a:pPr algn="just">
              <a:lnSpc>
                <a:spcPts val="5275"/>
              </a:lnSpc>
            </a:pPr>
            <a:r>
              <a:rPr lang="en-US" sz="43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Relentless focus on aerospace dynamics and solving high-speed edge computing bottlenecks for orbital autonomy and propellant preservation.</a:t>
            </a:r>
          </a:p>
          <a:p>
            <a:pPr algn="just">
              <a:lnSpc>
                <a:spcPts val="5275"/>
              </a:lnSpc>
            </a:pPr>
          </a:p>
          <a:p>
            <a:pPr algn="just">
              <a:lnSpc>
                <a:spcPts val="5275"/>
              </a:lnSpc>
            </a:pPr>
          </a:p>
          <a:p>
            <a:pPr algn="just">
              <a:lnSpc>
                <a:spcPts val="527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7" id="7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68" r="0" b="-6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1" r="0" b="-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1" r="0" b="-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5696" y="184567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4219565"/>
            <a:ext cx="1040569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Links of the litrature review:  </a:t>
            </a:r>
            <a:r>
              <a:rPr lang="en-US" sz="4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docs.google.com/spreadsheets/d/1fYQU6NIitf-da5jGY2DLMpgwy7yGOHrC-LEVyRjjTow/edit?usp=sharing"/>
              </a:rPr>
              <a:t>click here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720679" y="287322"/>
            <a:ext cx="2087328" cy="1110920"/>
            <a:chOff x="0" y="0"/>
            <a:chExt cx="2783103" cy="1481226"/>
          </a:xfrm>
        </p:grpSpPr>
        <p:sp>
          <p:nvSpPr>
            <p:cNvPr name="Freeform 7" id="7" descr="A logo with a person in a blue yellow and red circle  Description automatically generated"/>
            <p:cNvSpPr/>
            <p:nvPr/>
          </p:nvSpPr>
          <p:spPr>
            <a:xfrm flipH="false" flipV="false" rot="0">
              <a:off x="0" y="0"/>
              <a:ext cx="2783078" cy="1481201"/>
            </a:xfrm>
            <a:custGeom>
              <a:avLst/>
              <a:gdLst/>
              <a:ahLst/>
              <a:cxnLst/>
              <a:rect r="r" b="b" t="t" l="l"/>
              <a:pathLst>
                <a:path h="1481201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368" r="0" b="-6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74478" y="256775"/>
            <a:ext cx="2087328" cy="1151296"/>
            <a:chOff x="0" y="0"/>
            <a:chExt cx="2783103" cy="15350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83078" cy="1535049"/>
            </a:xfrm>
            <a:custGeom>
              <a:avLst/>
              <a:gdLst/>
              <a:ahLst/>
              <a:cxnLst/>
              <a:rect r="r" b="b" t="t" l="l"/>
              <a:pathLst>
                <a:path h="1535049" w="2783078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1" r="0" b="-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50660" y="308420"/>
            <a:ext cx="2214191" cy="1112501"/>
            <a:chOff x="0" y="0"/>
            <a:chExt cx="2952255" cy="1483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52242" cy="1483360"/>
            </a:xfrm>
            <a:custGeom>
              <a:avLst/>
              <a:gdLst/>
              <a:ahLst/>
              <a:cxnLst/>
              <a:rect r="r" b="b" t="t" l="l"/>
              <a:pathLst>
                <a:path h="1483360" w="2952242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1072" y="308420"/>
            <a:ext cx="2854957" cy="1094394"/>
            <a:chOff x="0" y="0"/>
            <a:chExt cx="3806609" cy="14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1" r="0" b="-1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DAHSqLiZcXg</dc:identifier>
  <dcterms:modified xsi:type="dcterms:W3CDTF">2011-08-01T06:04:30Z</dcterms:modified>
  <cp:revision>1</cp:revision>
  <dc:title>VITISH'26_IdeaTemplate.pptx</dc:title>
</cp:coreProperties>
</file>